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9" r:id="rId3"/>
    <p:sldId id="283" r:id="rId4"/>
    <p:sldId id="282" r:id="rId5"/>
    <p:sldId id="284" r:id="rId6"/>
    <p:sldId id="28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758" autoAdjust="0"/>
  </p:normalViewPr>
  <p:slideViewPr>
    <p:cSldViewPr snapToGrid="0">
      <p:cViewPr varScale="1">
        <p:scale>
          <a:sx n="98" d="100"/>
          <a:sy n="98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BF0BA-B738-1D6F-DD14-279F67F3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75036F-053E-0C10-7A57-F6F3C00FD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D55A7-C96B-B02B-5D3D-BA408909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67CCB-6CEF-8739-4929-6CAD5E9C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02853-6632-196F-A0BA-66DAEE38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53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24A8B-0A78-3430-5577-15A1F55F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E5F53-79E9-AAEE-AABB-EFC68B3B1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05DB4-9F22-8CE9-4D2D-88329098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6DC1A-2F05-DC67-4C45-BD34B520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0B91C7-A24E-0779-0096-C0EDFC18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95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81654-FB16-1552-6703-28289F152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5CFE0F-C60E-C1B7-2DFF-D1FED436E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57406-0F61-F302-E199-D436151D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C0C0A-E4A2-38C4-EBFB-F0C7346D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2DD0-68C9-912C-A716-5EC67D83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57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27ED9-9FCA-8280-5D2B-0692F020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CAFBB-B4A6-4D61-9329-2595BC6F6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3E9E9A-7D58-2116-4A79-EA0A986D7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C9571-FAAF-97E4-C68C-DAE682F7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F427BE-3A3B-48E7-8FBD-D51C9D42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6AB399-1356-F91F-6917-7C3F990E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23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78F61-A457-8203-2E95-33A7CE59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444CDF-DF1D-73B0-16BA-268B99FF5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99473A-0120-1EA6-4C19-4E8880288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2126A0-6AFE-6459-9C71-9A9CF7A69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60E017-E729-54D0-776D-BE695D3C7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72C972-E8C2-F1E2-000A-57C71854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07E4FD-C7A6-C879-A741-C64DD3F0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216E79-28D2-A38D-6478-B65035B2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42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E0255-FE19-F8F4-4758-F12B3AAA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BA5598-A5C9-1218-ACC3-06A7B9A0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D60FF7-3A44-BD79-2EF0-3AE74CF1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985AB3-9ACD-411E-8AB5-8ED01829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48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924880-F339-88D7-EBD8-7FB31E4C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4ED2AB-D5FB-90BF-DD63-C70185FA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6E47EF-63A0-D758-F412-D1F97EE5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9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38C70-E247-DE89-6594-C5B2A577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1DB531-E619-F083-8ADB-42492B1E7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5B54FF-453F-C5AF-36C9-CB58B4C6F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BA073F-F586-19A4-02E4-8C96864A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9ED1A2-CCB0-7D45-1C3B-A4930193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C7EDD-535E-515C-2F81-B75BF84A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8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BA6C5-5969-873E-C4DF-511364E8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DF3850-B964-9A1C-C7D6-21F8F28FA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880742-CE30-5AED-D566-58BB8E4C3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3FE71E-AC48-E1AB-F64D-A87525F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4C8776-6B30-B63F-4ECE-7D714F10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45B340-B0BC-1400-A134-43A010E1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5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66C8B-8A95-34B7-821F-60B838E1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229B04-A904-DDD9-5840-6ED072A36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14A133-20BD-BB87-E59C-E70A3A3B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39A1C4-F861-B6DC-4F72-37E32EC9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C64C7B-3D75-7F0C-8183-F8F17FC0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22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C08107-EFD9-67D1-7CB3-BB5EBC55F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66DC2-67FE-10E2-2B27-33C452F97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59F5B2-F35F-56BB-C7D9-C5F0E915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C738DB-F3A6-7FC9-4675-92CCD5CB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766BD-5955-37EA-A7EA-2190D2D0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74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394297-5E6B-1BFF-45EC-F1F97D5B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E6D586-EA70-A24B-3392-65B1B86B9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F66932-7D24-AE3E-9786-677473AC6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E8CB6-0583-4EAC-B6D8-DA9170A42A41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7BC000-3FE1-1136-E1C6-6029A570B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71A15E-4C2D-BFA1-59B4-D5209CB66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25D1A-6DFC-42D9-8075-0CD5968644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08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0C56-DD73-4F3C-8164-EC3AD3D8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17C615A-545F-9663-064C-919CE97CC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20716"/>
              </p:ext>
            </p:extLst>
          </p:nvPr>
        </p:nvGraphicFramePr>
        <p:xfrm>
          <a:off x="548481" y="1056640"/>
          <a:ext cx="1109504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860">
                  <a:extLst>
                    <a:ext uri="{9D8B030D-6E8A-4147-A177-3AD203B41FA5}">
                      <a16:colId xmlns:a16="http://schemas.microsoft.com/office/drawing/2014/main" val="3982352560"/>
                    </a:ext>
                  </a:extLst>
                </a:gridCol>
                <a:gridCol w="921680">
                  <a:extLst>
                    <a:ext uri="{9D8B030D-6E8A-4147-A177-3AD203B41FA5}">
                      <a16:colId xmlns:a16="http://schemas.microsoft.com/office/drawing/2014/main" val="2358648820"/>
                    </a:ext>
                  </a:extLst>
                </a:gridCol>
                <a:gridCol w="2569201">
                  <a:extLst>
                    <a:ext uri="{9D8B030D-6E8A-4147-A177-3AD203B41FA5}">
                      <a16:colId xmlns:a16="http://schemas.microsoft.com/office/drawing/2014/main" val="3804552715"/>
                    </a:ext>
                  </a:extLst>
                </a:gridCol>
                <a:gridCol w="1345377">
                  <a:extLst>
                    <a:ext uri="{9D8B030D-6E8A-4147-A177-3AD203B41FA5}">
                      <a16:colId xmlns:a16="http://schemas.microsoft.com/office/drawing/2014/main" val="2747617671"/>
                    </a:ext>
                  </a:extLst>
                </a:gridCol>
                <a:gridCol w="1442236">
                  <a:extLst>
                    <a:ext uri="{9D8B030D-6E8A-4147-A177-3AD203B41FA5}">
                      <a16:colId xmlns:a16="http://schemas.microsoft.com/office/drawing/2014/main" val="176567954"/>
                    </a:ext>
                  </a:extLst>
                </a:gridCol>
                <a:gridCol w="1442236">
                  <a:extLst>
                    <a:ext uri="{9D8B030D-6E8A-4147-A177-3AD203B41FA5}">
                      <a16:colId xmlns:a16="http://schemas.microsoft.com/office/drawing/2014/main" val="592164233"/>
                    </a:ext>
                  </a:extLst>
                </a:gridCol>
                <a:gridCol w="1071450">
                  <a:extLst>
                    <a:ext uri="{9D8B030D-6E8A-4147-A177-3AD203B41FA5}">
                      <a16:colId xmlns:a16="http://schemas.microsoft.com/office/drawing/2014/main" val="2039249142"/>
                    </a:ext>
                  </a:extLst>
                </a:gridCol>
                <a:gridCol w="952000">
                  <a:extLst>
                    <a:ext uri="{9D8B030D-6E8A-4147-A177-3AD203B41FA5}">
                      <a16:colId xmlns:a16="http://schemas.microsoft.com/office/drawing/2014/main" val="1741768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개시일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수정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삭제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24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전달사항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전달사항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2026-01-09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8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2026-01-10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8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94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09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88200"/>
                  </a:ext>
                </a:extLst>
              </a:tr>
            </a:tbl>
          </a:graphicData>
        </a:graphic>
      </p:graphicFrame>
      <p:pic>
        <p:nvPicPr>
          <p:cNvPr id="3" name="그림 2" descr="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31105E-EE83-30EB-5129-FED8BFB4D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22" y="523240"/>
            <a:ext cx="366829" cy="438099"/>
          </a:xfrm>
          <a:prstGeom prst="rect">
            <a:avLst/>
          </a:prstGeom>
        </p:spPr>
      </p:pic>
      <p:pic>
        <p:nvPicPr>
          <p:cNvPr id="5" name="그림 4" descr="폰트, 상징, 직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92817D-AAFD-1CCA-31B7-11C04B44F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620" y="1487720"/>
            <a:ext cx="256170" cy="238222"/>
          </a:xfrm>
          <a:prstGeom prst="rect">
            <a:avLst/>
          </a:prstGeom>
        </p:spPr>
      </p:pic>
      <p:pic>
        <p:nvPicPr>
          <p:cNvPr id="6" name="그림 5" descr="클립아트, 상징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31CE2B-DAFF-A8E4-B209-EA9B17125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714" y="1487720"/>
            <a:ext cx="253937" cy="254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1B040-71C8-E283-C2BB-903F6ED8BC68}"/>
              </a:ext>
            </a:extLst>
          </p:cNvPr>
          <p:cNvSpPr txBox="1"/>
          <p:nvPr/>
        </p:nvSpPr>
        <p:spPr>
          <a:xfrm>
            <a:off x="548481" y="355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전달사항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DBFDC65-F8AA-68CE-DC3A-4519F3C59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371206"/>
              </p:ext>
            </p:extLst>
          </p:nvPr>
        </p:nvGraphicFramePr>
        <p:xfrm>
          <a:off x="490114" y="513833"/>
          <a:ext cx="8278434" cy="337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708">
                  <a:extLst>
                    <a:ext uri="{9D8B030D-6E8A-4147-A177-3AD203B41FA5}">
                      <a16:colId xmlns:a16="http://schemas.microsoft.com/office/drawing/2014/main" val="3982352560"/>
                    </a:ext>
                  </a:extLst>
                </a:gridCol>
                <a:gridCol w="1892769">
                  <a:extLst>
                    <a:ext uri="{9D8B030D-6E8A-4147-A177-3AD203B41FA5}">
                      <a16:colId xmlns:a16="http://schemas.microsoft.com/office/drawing/2014/main" val="2358648820"/>
                    </a:ext>
                  </a:extLst>
                </a:gridCol>
                <a:gridCol w="1049791">
                  <a:extLst>
                    <a:ext uri="{9D8B030D-6E8A-4147-A177-3AD203B41FA5}">
                      <a16:colId xmlns:a16="http://schemas.microsoft.com/office/drawing/2014/main" val="3804552715"/>
                    </a:ext>
                  </a:extLst>
                </a:gridCol>
                <a:gridCol w="1709688">
                  <a:extLst>
                    <a:ext uri="{9D8B030D-6E8A-4147-A177-3AD203B41FA5}">
                      <a16:colId xmlns:a16="http://schemas.microsoft.com/office/drawing/2014/main" val="2747617671"/>
                    </a:ext>
                  </a:extLst>
                </a:gridCol>
                <a:gridCol w="1087054">
                  <a:extLst>
                    <a:ext uri="{9D8B030D-6E8A-4147-A177-3AD203B41FA5}">
                      <a16:colId xmlns:a16="http://schemas.microsoft.com/office/drawing/2014/main" val="176567954"/>
                    </a:ext>
                  </a:extLst>
                </a:gridCol>
                <a:gridCol w="1672424">
                  <a:extLst>
                    <a:ext uri="{9D8B030D-6E8A-4147-A177-3AD203B41FA5}">
                      <a16:colId xmlns:a16="http://schemas.microsoft.com/office/drawing/2014/main" val="4185711928"/>
                    </a:ext>
                  </a:extLst>
                </a:gridCol>
              </a:tblGrid>
              <a:tr h="337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대상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24151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59ABEF-4C65-4C55-8A59-E0980CE75006}"/>
              </a:ext>
            </a:extLst>
          </p:cNvPr>
          <p:cNvSpPr/>
          <p:nvPr/>
        </p:nvSpPr>
        <p:spPr>
          <a:xfrm>
            <a:off x="8995047" y="479555"/>
            <a:ext cx="914400" cy="350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조회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3FD6FE-6CFA-D4EC-25CF-8A2C37DFB309}"/>
              </a:ext>
            </a:extLst>
          </p:cNvPr>
          <p:cNvSpPr/>
          <p:nvPr/>
        </p:nvSpPr>
        <p:spPr>
          <a:xfrm>
            <a:off x="1276000" y="501032"/>
            <a:ext cx="2147455" cy="350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6E653B-957A-EC0E-2010-29E3A28DB366}"/>
              </a:ext>
            </a:extLst>
          </p:cNvPr>
          <p:cNvSpPr/>
          <p:nvPr/>
        </p:nvSpPr>
        <p:spPr>
          <a:xfrm>
            <a:off x="4232835" y="490982"/>
            <a:ext cx="1774756" cy="350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729DE54-AEE6-4BA8-0B2F-111D3151A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8734" y="570815"/>
            <a:ext cx="1066949" cy="34294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C375EEB-52A4-F41E-71A2-8206D9B577C8}"/>
              </a:ext>
            </a:extLst>
          </p:cNvPr>
          <p:cNvSpPr/>
          <p:nvPr/>
        </p:nvSpPr>
        <p:spPr>
          <a:xfrm>
            <a:off x="6864505" y="479555"/>
            <a:ext cx="1774756" cy="350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폰트, 상징, 직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C86E31-ECFC-92DC-7EDA-26B9425B8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620" y="1868819"/>
            <a:ext cx="256170" cy="238222"/>
          </a:xfrm>
          <a:prstGeom prst="rect">
            <a:avLst/>
          </a:prstGeom>
        </p:spPr>
      </p:pic>
      <p:pic>
        <p:nvPicPr>
          <p:cNvPr id="13" name="그림 12" descr="클립아트, 상징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EE701D-E84A-6046-675B-03399F962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714" y="1868819"/>
            <a:ext cx="253937" cy="2549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F9105F-82F0-0BDC-7A19-3D08CB94FBEA}"/>
              </a:ext>
            </a:extLst>
          </p:cNvPr>
          <p:cNvSpPr txBox="1"/>
          <p:nvPr/>
        </p:nvSpPr>
        <p:spPr>
          <a:xfrm>
            <a:off x="4742924" y="3987699"/>
            <a:ext cx="729885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■ 그리드 </a:t>
            </a:r>
            <a:r>
              <a:rPr lang="en-US" altLang="ko-KR" sz="1100" dirty="0" err="1"/>
              <a:t>sql</a:t>
            </a:r>
            <a:r>
              <a:rPr lang="ko-KR" altLang="en-US" sz="1100" dirty="0"/>
              <a:t>문 </a:t>
            </a:r>
            <a:r>
              <a:rPr lang="en-US" altLang="ko-KR" sz="1100" dirty="0"/>
              <a:t> </a:t>
            </a:r>
          </a:p>
          <a:p>
            <a:r>
              <a:rPr lang="en-US" altLang="ko-KR" sz="1100" dirty="0"/>
              <a:t>select </a:t>
            </a:r>
            <a:r>
              <a:rPr lang="en-US" altLang="ko-KR" sz="1100" dirty="0" err="1"/>
              <a:t>getLookupValueName</a:t>
            </a:r>
            <a:r>
              <a:rPr lang="en-US" altLang="ko-KR" sz="1100" dirty="0"/>
              <a:t>(</a:t>
            </a:r>
            <a:r>
              <a:rPr lang="en-US" altLang="ko-KR" sz="1100" dirty="0" err="1"/>
              <a:t>db</a:t>
            </a:r>
            <a:r>
              <a:rPr lang="en-US" altLang="ko-KR" sz="1100" dirty="0"/>
              <a:t>, ‘150’, bn. </a:t>
            </a:r>
            <a:r>
              <a:rPr lang="en-US" altLang="ko-KR" sz="1100" dirty="0" err="1"/>
              <a:t>notification_cd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bn.create_ymd</a:t>
            </a:r>
            <a:r>
              <a:rPr lang="en-US" altLang="ko-KR" sz="1100" dirty="0"/>
              <a:t>) as </a:t>
            </a:r>
            <a:r>
              <a:rPr lang="en-US" altLang="ko-KR" sz="1100" dirty="0" err="1"/>
              <a:t>semester_cd</a:t>
            </a:r>
            <a:r>
              <a:rPr lang="en-US" altLang="ko-KR" sz="1100" dirty="0"/>
              <a:t>  -- </a:t>
            </a:r>
            <a:r>
              <a:rPr lang="ko-KR" altLang="en-US" sz="1100" dirty="0"/>
              <a:t>구분</a:t>
            </a:r>
            <a:endParaRPr lang="en-US" altLang="ko-KR" sz="1100" dirty="0"/>
          </a:p>
          <a:p>
            <a:r>
              <a:rPr lang="en-US" altLang="ko-KR" sz="1100" dirty="0"/>
              <a:t>         ,case</a:t>
            </a:r>
            <a:r>
              <a:rPr lang="ko-KR" altLang="en-US" sz="1100" dirty="0"/>
              <a:t> </a:t>
            </a:r>
            <a:r>
              <a:rPr lang="en-US" altLang="ko-KR" sz="1100" dirty="0"/>
              <a:t>when </a:t>
            </a:r>
            <a:r>
              <a:rPr lang="en-US" altLang="ko-KR" sz="1100" dirty="0" err="1"/>
              <a:t>bn.user_type</a:t>
            </a:r>
            <a:r>
              <a:rPr lang="en-US" altLang="ko-KR" sz="1100" dirty="0"/>
              <a:t> = ‘</a:t>
            </a:r>
            <a:r>
              <a:rPr lang="ko-KR" altLang="en-US" sz="1100" dirty="0"/>
              <a:t>전체</a:t>
            </a:r>
            <a:r>
              <a:rPr lang="en-US" altLang="ko-KR" sz="1100" dirty="0"/>
              <a:t>’ then ‘</a:t>
            </a:r>
            <a:r>
              <a:rPr lang="ko-KR" altLang="en-US" sz="1100" dirty="0"/>
              <a:t>전체</a:t>
            </a:r>
            <a:r>
              <a:rPr lang="en-US" altLang="ko-KR" sz="1100" dirty="0"/>
              <a:t>’</a:t>
            </a:r>
          </a:p>
          <a:p>
            <a:r>
              <a:rPr lang="en-US" altLang="ko-KR" sz="1100" dirty="0"/>
              <a:t>                else </a:t>
            </a:r>
            <a:r>
              <a:rPr lang="en-US" altLang="ko-KR" sz="1100" dirty="0" err="1"/>
              <a:t>getLookupValueName</a:t>
            </a:r>
            <a:r>
              <a:rPr lang="en-US" altLang="ko-KR" sz="1100" dirty="0"/>
              <a:t>(</a:t>
            </a:r>
            <a:r>
              <a:rPr lang="ko-KR" altLang="en-US" sz="1100" dirty="0"/>
              <a:t>유</a:t>
            </a:r>
            <a:r>
              <a:rPr lang="en-US" altLang="ko-KR" sz="1100" dirty="0"/>
              <a:t>, ‘110’, </a:t>
            </a:r>
            <a:r>
              <a:rPr lang="en-US" altLang="ko-KR" sz="1100" dirty="0" err="1"/>
              <a:t>bn.user_type</a:t>
            </a:r>
            <a:r>
              <a:rPr lang="en-US" altLang="ko-KR" sz="1100" dirty="0"/>
              <a:t> , </a:t>
            </a:r>
            <a:r>
              <a:rPr lang="en-US" altLang="ko-KR" sz="1100" dirty="0" err="1"/>
              <a:t>bn.create_ymd</a:t>
            </a:r>
            <a:r>
              <a:rPr lang="en-US" altLang="ko-KR" sz="1100" dirty="0"/>
              <a:t>)  </a:t>
            </a:r>
          </a:p>
          <a:p>
            <a:r>
              <a:rPr lang="en-US" altLang="ko-KR" sz="1100" dirty="0"/>
              <a:t>               end as  </a:t>
            </a:r>
            <a:r>
              <a:rPr lang="en-US" altLang="ko-KR" sz="1100" dirty="0" err="1"/>
              <a:t>user_type</a:t>
            </a:r>
            <a:r>
              <a:rPr lang="en-US" altLang="ko-KR" sz="1100" dirty="0"/>
              <a:t> – </a:t>
            </a:r>
            <a:r>
              <a:rPr lang="ko-KR" altLang="en-US" sz="1100" dirty="0"/>
              <a:t>대상</a:t>
            </a:r>
            <a:endParaRPr lang="en-US" altLang="ko-KR" sz="1100" dirty="0"/>
          </a:p>
          <a:p>
            <a:r>
              <a:rPr lang="en-US" altLang="ko-KR" sz="1100" dirty="0"/>
              <a:t>         ,</a:t>
            </a:r>
            <a:r>
              <a:rPr lang="en-US" altLang="ko-KR" sz="1100" dirty="0" err="1"/>
              <a:t>bn.title</a:t>
            </a:r>
            <a:r>
              <a:rPr lang="en-US" altLang="ko-KR" sz="1100" dirty="0"/>
              <a:t>                   -- </a:t>
            </a:r>
            <a:r>
              <a:rPr lang="ko-KR" altLang="en-US" sz="1100" dirty="0"/>
              <a:t>제목</a:t>
            </a:r>
            <a:endParaRPr lang="en-US" altLang="ko-KR" sz="1100" dirty="0"/>
          </a:p>
          <a:p>
            <a:r>
              <a:rPr lang="en-US" altLang="ko-KR" sz="1100" dirty="0"/>
              <a:t>         ,</a:t>
            </a:r>
            <a:r>
              <a:rPr lang="en-US" altLang="ko-KR" sz="1100" dirty="0" err="1"/>
              <a:t>bn.start_ymd</a:t>
            </a:r>
            <a:r>
              <a:rPr lang="en-US" altLang="ko-KR" sz="1100" dirty="0"/>
              <a:t>           -- </a:t>
            </a:r>
            <a:r>
              <a:rPr lang="ko-KR" altLang="en-US" sz="1100" dirty="0"/>
              <a:t>개시일</a:t>
            </a:r>
            <a:r>
              <a:rPr lang="en-US" altLang="ko-KR" sz="1100" dirty="0"/>
              <a:t> </a:t>
            </a:r>
          </a:p>
          <a:p>
            <a:r>
              <a:rPr lang="en-US" altLang="ko-KR" sz="1100" dirty="0"/>
              <a:t>         ,</a:t>
            </a:r>
            <a:r>
              <a:rPr lang="en-US" altLang="ko-KR" sz="1100" dirty="0" err="1"/>
              <a:t>bn.create_ymd</a:t>
            </a:r>
            <a:r>
              <a:rPr lang="en-US" altLang="ko-KR" sz="1100" dirty="0"/>
              <a:t>         -- </a:t>
            </a:r>
            <a:r>
              <a:rPr lang="ko-KR" altLang="en-US" sz="1100" dirty="0"/>
              <a:t>작성일</a:t>
            </a:r>
            <a:endParaRPr lang="en-US" altLang="ko-KR" sz="1100" dirty="0"/>
          </a:p>
          <a:p>
            <a:r>
              <a:rPr lang="en-US" altLang="ko-KR" sz="1100" dirty="0"/>
              <a:t>         ,bu.name                 -- </a:t>
            </a:r>
            <a:r>
              <a:rPr lang="ko-KR" altLang="en-US" sz="1100" dirty="0"/>
              <a:t>작성자</a:t>
            </a:r>
          </a:p>
          <a:p>
            <a:r>
              <a:rPr lang="ko-KR" altLang="en-US" sz="1100" dirty="0"/>
              <a:t>   </a:t>
            </a:r>
            <a:r>
              <a:rPr lang="en-US" altLang="ko-KR" sz="1100" dirty="0"/>
              <a:t>from </a:t>
            </a:r>
            <a:r>
              <a:rPr lang="en-US" altLang="ko-KR" sz="1100" dirty="0" err="1"/>
              <a:t>bta_notifications</a:t>
            </a:r>
            <a:r>
              <a:rPr lang="en-US" altLang="ko-KR" sz="1100" dirty="0"/>
              <a:t> bn, </a:t>
            </a:r>
            <a:r>
              <a:rPr lang="en-US" altLang="ko-KR" sz="1100" dirty="0" err="1"/>
              <a:t>bta_user</a:t>
            </a:r>
            <a:r>
              <a:rPr lang="en-US" altLang="ko-KR" sz="1100" dirty="0"/>
              <a:t> </a:t>
            </a:r>
            <a:r>
              <a:rPr lang="en-US" altLang="ko-KR" sz="1100" dirty="0" err="1"/>
              <a:t>bu</a:t>
            </a:r>
            <a:endParaRPr lang="en-US" altLang="ko-KR" sz="1100" dirty="0"/>
          </a:p>
          <a:p>
            <a:r>
              <a:rPr lang="en-US" altLang="ko-KR" sz="1100" dirty="0"/>
              <a:t> where </a:t>
            </a:r>
            <a:r>
              <a:rPr lang="en-US" altLang="ko-KR" sz="1100" dirty="0" err="1"/>
              <a:t>bn.create_user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bp.userId</a:t>
            </a:r>
            <a:endParaRPr lang="en-US" altLang="ko-KR" sz="1100" dirty="0"/>
          </a:p>
          <a:p>
            <a:r>
              <a:rPr lang="en-US" altLang="ko-KR" sz="1100" dirty="0"/>
              <a:t>  order by </a:t>
            </a:r>
            <a:r>
              <a:rPr lang="en-US" altLang="ko-KR" sz="1100" dirty="0" err="1"/>
              <a:t>bn.create_ymd</a:t>
            </a:r>
            <a:endParaRPr lang="en-US" altLang="ko-KR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A6B91-AB1C-2065-799A-AE50D015496B}"/>
              </a:ext>
            </a:extLst>
          </p:cNvPr>
          <p:cNvSpPr txBox="1"/>
          <p:nvPr/>
        </p:nvSpPr>
        <p:spPr>
          <a:xfrm>
            <a:off x="284414" y="3987699"/>
            <a:ext cx="381093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■ 조회조건</a:t>
            </a:r>
            <a:endParaRPr lang="en-US" altLang="ko-KR" sz="1100" dirty="0"/>
          </a:p>
          <a:p>
            <a:r>
              <a:rPr lang="en-US" altLang="ko-KR" sz="1100" dirty="0"/>
              <a:t>    1. </a:t>
            </a:r>
            <a:r>
              <a:rPr lang="ko-KR" altLang="en-US" sz="1100" dirty="0"/>
              <a:t>구분</a:t>
            </a:r>
            <a:endParaRPr lang="en-US" altLang="ko-KR" sz="1100" dirty="0"/>
          </a:p>
          <a:p>
            <a:r>
              <a:rPr lang="en-US" altLang="ko-KR" sz="1100" dirty="0"/>
              <a:t>       1)</a:t>
            </a:r>
            <a:r>
              <a:rPr lang="ko-KR" altLang="en-US" sz="1100" dirty="0"/>
              <a:t> 참조</a:t>
            </a:r>
            <a:r>
              <a:rPr lang="en-US" altLang="ko-KR" sz="1100" dirty="0"/>
              <a:t>1) </a:t>
            </a:r>
            <a:r>
              <a:rPr lang="ko-KR" altLang="en-US" sz="1100" dirty="0"/>
              <a:t>구분을 참조</a:t>
            </a:r>
            <a:endParaRPr lang="en-US" altLang="ko-KR" sz="1100" dirty="0"/>
          </a:p>
          <a:p>
            <a:r>
              <a:rPr lang="en-US" altLang="ko-KR" sz="1100" dirty="0"/>
              <a:t>       2) </a:t>
            </a:r>
            <a:r>
              <a:rPr lang="ko-KR" altLang="en-US" sz="1100" dirty="0"/>
              <a:t>전체가 있어야 됨</a:t>
            </a:r>
            <a:endParaRPr lang="en-US" altLang="ko-KR" sz="1100" dirty="0"/>
          </a:p>
          <a:p>
            <a:r>
              <a:rPr lang="en-US" altLang="ko-KR" sz="1100" dirty="0"/>
              <a:t>    2. </a:t>
            </a:r>
            <a:r>
              <a:rPr lang="ko-KR" altLang="en-US" sz="1100" dirty="0"/>
              <a:t>대상</a:t>
            </a:r>
            <a:endParaRPr lang="en-US" altLang="ko-KR" sz="1100" dirty="0"/>
          </a:p>
          <a:p>
            <a:r>
              <a:rPr lang="en-US" altLang="ko-KR" sz="1100" dirty="0"/>
              <a:t>       1) </a:t>
            </a:r>
            <a:r>
              <a:rPr lang="ko-KR" altLang="en-US" sz="1100" dirty="0"/>
              <a:t>참조</a:t>
            </a:r>
            <a:r>
              <a:rPr lang="en-US" altLang="ko-KR" sz="1100" dirty="0"/>
              <a:t>3) </a:t>
            </a:r>
            <a:r>
              <a:rPr lang="ko-KR" altLang="en-US" sz="1100" dirty="0"/>
              <a:t>대상을 참조</a:t>
            </a:r>
            <a:endParaRPr lang="en-US" altLang="ko-KR" sz="1100" dirty="0"/>
          </a:p>
          <a:p>
            <a:r>
              <a:rPr lang="en-US" altLang="ko-KR" sz="1100" dirty="0"/>
              <a:t>       2) </a:t>
            </a:r>
            <a:r>
              <a:rPr lang="ko-KR" altLang="en-US" sz="1100" dirty="0"/>
              <a:t>전체가 있어야 됨</a:t>
            </a:r>
            <a:endParaRPr lang="en-US" altLang="ko-KR" sz="1100" dirty="0"/>
          </a:p>
          <a:p>
            <a:r>
              <a:rPr lang="en-US" altLang="ko-KR" sz="1100" dirty="0"/>
              <a:t>    3. </a:t>
            </a:r>
            <a:r>
              <a:rPr lang="ko-KR" altLang="en-US" sz="1100" dirty="0"/>
              <a:t>제목 </a:t>
            </a:r>
            <a:r>
              <a:rPr lang="en-US" altLang="ko-KR" sz="1100" dirty="0"/>
              <a:t> </a:t>
            </a:r>
          </a:p>
          <a:p>
            <a:r>
              <a:rPr lang="en-US" altLang="ko-KR" sz="1100" dirty="0"/>
              <a:t>       1) like </a:t>
            </a:r>
            <a:r>
              <a:rPr lang="ko-KR" altLang="en-US" sz="1100" dirty="0"/>
              <a:t>로 조회함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072692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14DDF0-B7F2-1DDF-4DC1-685FC942C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462377"/>
              </p:ext>
            </p:extLst>
          </p:nvPr>
        </p:nvGraphicFramePr>
        <p:xfrm>
          <a:off x="787940" y="676043"/>
          <a:ext cx="10583693" cy="574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525">
                  <a:extLst>
                    <a:ext uri="{9D8B030D-6E8A-4147-A177-3AD203B41FA5}">
                      <a16:colId xmlns:a16="http://schemas.microsoft.com/office/drawing/2014/main" val="3982352560"/>
                    </a:ext>
                  </a:extLst>
                </a:gridCol>
                <a:gridCol w="3111464">
                  <a:extLst>
                    <a:ext uri="{9D8B030D-6E8A-4147-A177-3AD203B41FA5}">
                      <a16:colId xmlns:a16="http://schemas.microsoft.com/office/drawing/2014/main" val="2090855702"/>
                    </a:ext>
                  </a:extLst>
                </a:gridCol>
                <a:gridCol w="2622352">
                  <a:extLst>
                    <a:ext uri="{9D8B030D-6E8A-4147-A177-3AD203B41FA5}">
                      <a16:colId xmlns:a16="http://schemas.microsoft.com/office/drawing/2014/main" val="2546752587"/>
                    </a:ext>
                  </a:extLst>
                </a:gridCol>
                <a:gridCol w="2622352">
                  <a:extLst>
                    <a:ext uri="{9D8B030D-6E8A-4147-A177-3AD203B41FA5}">
                      <a16:colId xmlns:a16="http://schemas.microsoft.com/office/drawing/2014/main" val="2929786808"/>
                    </a:ext>
                  </a:extLst>
                </a:gridCol>
              </a:tblGrid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24151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게시일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2026-01-25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2999-12-31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879918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2026-01-25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84657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년 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77477"/>
                  </a:ext>
                </a:extLst>
              </a:tr>
              <a:tr h="37396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94406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88200"/>
                  </a:ext>
                </a:extLst>
              </a:tr>
            </a:tbl>
          </a:graphicData>
        </a:graphic>
      </p:graphicFrame>
      <p:pic>
        <p:nvPicPr>
          <p:cNvPr id="4" name="그림 3" descr="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AF3059-FAE0-3079-5E9B-7B6886AF5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41" y="276124"/>
            <a:ext cx="272374" cy="325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0F785E-8F5E-3892-9EB9-EB78C84C327F}"/>
              </a:ext>
            </a:extLst>
          </p:cNvPr>
          <p:cNvSpPr txBox="1"/>
          <p:nvPr/>
        </p:nvSpPr>
        <p:spPr>
          <a:xfrm>
            <a:off x="1133796" y="293640"/>
            <a:ext cx="2717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아이콘을 클릭할 때 화면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추가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66035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0D26A-5C7C-9067-611B-16137D89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40031C-43B3-DF1C-38E9-7B51DB4A44DB}"/>
              </a:ext>
            </a:extLst>
          </p:cNvPr>
          <p:cNvSpPr txBox="1"/>
          <p:nvPr/>
        </p:nvSpPr>
        <p:spPr>
          <a:xfrm>
            <a:off x="635999" y="487025"/>
            <a:ext cx="3398687" cy="6370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 ■ 항목설명 </a:t>
            </a:r>
            <a:r>
              <a:rPr lang="en-US" altLang="ko-KR" sz="1200" dirty="0"/>
              <a:t>(</a:t>
            </a:r>
            <a:r>
              <a:rPr lang="ko-KR" altLang="en-US" sz="1200" dirty="0"/>
              <a:t>컬렉션 </a:t>
            </a:r>
            <a:r>
              <a:rPr lang="en-US" altLang="ko-KR" sz="1200" dirty="0"/>
              <a:t>:  </a:t>
            </a:r>
            <a:r>
              <a:rPr lang="en-US" altLang="ko-KR" sz="1200" dirty="0" err="1"/>
              <a:t>bta_notifications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1. </a:t>
            </a:r>
            <a:r>
              <a:rPr lang="ko-KR" altLang="en-US" sz="1200" dirty="0"/>
              <a:t>구분 </a:t>
            </a:r>
            <a:r>
              <a:rPr lang="en-US" altLang="ko-KR" sz="1200" dirty="0"/>
              <a:t>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notification_cd</a:t>
            </a:r>
            <a:r>
              <a:rPr lang="en-US" altLang="ko-KR" sz="1200" dirty="0"/>
              <a:t> 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 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공통코드 선택 </a:t>
            </a:r>
            <a:r>
              <a:rPr lang="en-US" altLang="ko-KR" sz="1200" dirty="0"/>
              <a:t>: </a:t>
            </a:r>
            <a:r>
              <a:rPr lang="ko-KR" altLang="en-US" sz="1200" dirty="0"/>
              <a:t>참조</a:t>
            </a:r>
            <a:r>
              <a:rPr lang="en-US" altLang="ko-KR" sz="1200" dirty="0"/>
              <a:t>1) </a:t>
            </a:r>
            <a:r>
              <a:rPr lang="ko-KR" altLang="en-US" sz="1200" dirty="0"/>
              <a:t>구분 참조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드롭다운 박스로 표시함</a:t>
            </a:r>
            <a:endParaRPr lang="en-US" altLang="ko-KR" sz="1200" dirty="0"/>
          </a:p>
          <a:p>
            <a:r>
              <a:rPr lang="en-US" altLang="ko-KR" sz="1200" dirty="0"/>
              <a:t>    2. </a:t>
            </a:r>
            <a:r>
              <a:rPr lang="ko-KR" altLang="en-US" sz="1200" dirty="0"/>
              <a:t>대상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user_type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공통코드 선택 </a:t>
            </a:r>
            <a:r>
              <a:rPr lang="en-US" altLang="ko-KR" sz="1200" dirty="0"/>
              <a:t>: </a:t>
            </a:r>
            <a:r>
              <a:rPr lang="ko-KR" altLang="en-US" sz="1200" dirty="0"/>
              <a:t>참조</a:t>
            </a:r>
            <a:r>
              <a:rPr lang="en-US" altLang="ko-KR" sz="1200" dirty="0"/>
              <a:t>2) </a:t>
            </a:r>
            <a:r>
              <a:rPr lang="ko-KR" altLang="en-US" sz="1200" dirty="0"/>
              <a:t>대상 참조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드롭다운 박스로 표시함</a:t>
            </a:r>
            <a:endParaRPr lang="en-US" altLang="ko-KR" sz="1200" dirty="0"/>
          </a:p>
          <a:p>
            <a:r>
              <a:rPr lang="en-US" altLang="ko-KR" sz="1200" dirty="0"/>
              <a:t>    3. </a:t>
            </a:r>
            <a:r>
              <a:rPr lang="ko-KR" altLang="en-US" sz="1200" dirty="0"/>
              <a:t>개시일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start_ymd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달력으로 선택 </a:t>
            </a:r>
            <a:r>
              <a:rPr lang="en-US" altLang="ko-KR" sz="1200" dirty="0"/>
              <a:t>or </a:t>
            </a:r>
            <a:r>
              <a:rPr lang="ko-KR" altLang="en-US" sz="1200" dirty="0"/>
              <a:t>키보드 입력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</a:t>
            </a:r>
          </a:p>
          <a:p>
            <a:r>
              <a:rPr lang="en-US" altLang="ko-KR" sz="1200" dirty="0"/>
              <a:t>    4. </a:t>
            </a:r>
            <a:r>
              <a:rPr lang="ko-KR" altLang="en-US" sz="1200" dirty="0"/>
              <a:t>종료일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end_ymd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달력으로 선택 </a:t>
            </a:r>
            <a:r>
              <a:rPr lang="en-US" altLang="ko-KR" sz="1200" dirty="0"/>
              <a:t>or </a:t>
            </a:r>
            <a:r>
              <a:rPr lang="ko-KR" altLang="en-US" sz="1200" dirty="0"/>
              <a:t>키보드 입력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</a:t>
            </a:r>
          </a:p>
          <a:p>
            <a:r>
              <a:rPr lang="en-US" altLang="ko-KR" sz="1200" dirty="0"/>
              <a:t>       4) default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2999-12-31</a:t>
            </a:r>
          </a:p>
          <a:p>
            <a:r>
              <a:rPr lang="en-US" altLang="ko-KR" sz="1200" dirty="0"/>
              <a:t>    5. </a:t>
            </a:r>
            <a:r>
              <a:rPr lang="ko-KR" altLang="en-US" sz="1200" dirty="0"/>
              <a:t>작성일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create_ymd</a:t>
            </a:r>
            <a:r>
              <a:rPr lang="en-US" altLang="ko-KR" sz="1200" dirty="0"/>
              <a:t> 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달력으로 선택 </a:t>
            </a:r>
            <a:r>
              <a:rPr lang="en-US" altLang="ko-KR" sz="1200" dirty="0"/>
              <a:t>or </a:t>
            </a:r>
            <a:r>
              <a:rPr lang="ko-KR" altLang="en-US" sz="1200" dirty="0"/>
              <a:t>키보드 입력</a:t>
            </a:r>
            <a:endParaRPr lang="en-US" altLang="ko-KR" sz="1200" dirty="0"/>
          </a:p>
          <a:p>
            <a:r>
              <a:rPr lang="en-US" altLang="ko-KR" sz="1200" dirty="0"/>
              <a:t>       3) default : </a:t>
            </a:r>
            <a:r>
              <a:rPr lang="en-US" altLang="ko-KR" sz="1200" dirty="0" err="1"/>
              <a:t>current_date</a:t>
            </a:r>
            <a:r>
              <a:rPr lang="en-US" altLang="ko-KR" sz="1200" dirty="0"/>
              <a:t>()</a:t>
            </a:r>
          </a:p>
          <a:p>
            <a:r>
              <a:rPr lang="en-US" altLang="ko-KR" sz="1200" dirty="0"/>
              <a:t>       4)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  </a:t>
            </a:r>
          </a:p>
          <a:p>
            <a:r>
              <a:rPr lang="en-US" altLang="ko-KR" sz="1200" dirty="0"/>
              <a:t>       5) </a:t>
            </a:r>
            <a:r>
              <a:rPr lang="ko-KR" altLang="en-US" sz="1200" dirty="0"/>
              <a:t>수정불가</a:t>
            </a:r>
            <a:r>
              <a:rPr lang="en-US" altLang="ko-KR" sz="1200" dirty="0"/>
              <a:t>  </a:t>
            </a:r>
          </a:p>
          <a:p>
            <a:r>
              <a:rPr lang="en-US" altLang="ko-KR" sz="1200" dirty="0"/>
              <a:t>    6. </a:t>
            </a:r>
            <a:r>
              <a:rPr lang="ko-KR" altLang="en-US" sz="1200" dirty="0"/>
              <a:t>작성자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create_user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로그인한 </a:t>
            </a:r>
            <a:r>
              <a:rPr lang="en-US" altLang="ko-KR" sz="1200" dirty="0"/>
              <a:t>user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en-US" sz="1200" dirty="0"/>
              <a:t>성명</a:t>
            </a:r>
            <a:endParaRPr lang="en-US" altLang="ko-KR" sz="1200" dirty="0"/>
          </a:p>
          <a:p>
            <a:r>
              <a:rPr lang="en-US" altLang="ko-KR" sz="1200" dirty="0"/>
              <a:t>       4)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           </a:t>
            </a:r>
          </a:p>
          <a:p>
            <a:r>
              <a:rPr lang="en-US" altLang="ko-KR" sz="1200" dirty="0"/>
              <a:t>    7. </a:t>
            </a:r>
            <a:r>
              <a:rPr lang="ko-KR" altLang="en-US" sz="1200" dirty="0"/>
              <a:t>제목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title)</a:t>
            </a:r>
          </a:p>
          <a:p>
            <a:r>
              <a:rPr lang="en-US" altLang="ko-KR" sz="1200" dirty="0"/>
              <a:t> 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8. </a:t>
            </a:r>
            <a:r>
              <a:rPr lang="ko-KR" altLang="en-US" sz="1200" dirty="0"/>
              <a:t>내용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contents)</a:t>
            </a:r>
          </a:p>
          <a:p>
            <a:r>
              <a:rPr lang="en-US" altLang="ko-KR" sz="1200" dirty="0"/>
              <a:t> 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 2) 5000</a:t>
            </a:r>
            <a:r>
              <a:rPr lang="ko-KR" altLang="en-US" sz="1200" dirty="0"/>
              <a:t>자</a:t>
            </a:r>
            <a:r>
              <a:rPr lang="en-US" altLang="ko-KR" sz="1200" dirty="0"/>
              <a:t> </a:t>
            </a:r>
            <a:r>
              <a:rPr lang="ko-KR" altLang="en-US" sz="1200" dirty="0"/>
              <a:t>이상 등록 가능해야 함</a:t>
            </a:r>
            <a:endParaRPr lang="en-US" altLang="ko-KR" sz="1200" dirty="0"/>
          </a:p>
          <a:p>
            <a:r>
              <a:rPr lang="en-US" altLang="ko-KR" sz="1200" dirty="0"/>
              <a:t>           </a:t>
            </a:r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/>
              <a:t>내용이 많으면 스크롤이 생겨야 됨</a:t>
            </a: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0B8451-3615-875C-6411-682FD7D28C7E}"/>
              </a:ext>
            </a:extLst>
          </p:cNvPr>
          <p:cNvSpPr txBox="1"/>
          <p:nvPr/>
        </p:nvSpPr>
        <p:spPr>
          <a:xfrm>
            <a:off x="4070752" y="710762"/>
            <a:ext cx="34978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9. </a:t>
            </a:r>
            <a:r>
              <a:rPr lang="ko-KR" altLang="en-US" sz="1200" dirty="0"/>
              <a:t>첨부파일</a:t>
            </a:r>
            <a:endParaRPr lang="en-US" altLang="ko-KR" sz="1200" dirty="0"/>
          </a:p>
          <a:p>
            <a:r>
              <a:rPr lang="en-US" altLang="ko-KR" sz="1200" dirty="0"/>
              <a:t>    1) </a:t>
            </a:r>
            <a:r>
              <a:rPr lang="ko-KR" altLang="en-US" sz="1200" dirty="0"/>
              <a:t>필수 필드 아님</a:t>
            </a:r>
            <a:endParaRPr lang="en-US" altLang="ko-KR" sz="1200" dirty="0"/>
          </a:p>
          <a:p>
            <a:r>
              <a:rPr lang="en-US" altLang="ko-KR" sz="1200" dirty="0"/>
              <a:t>    2) firebase</a:t>
            </a:r>
            <a:r>
              <a:rPr lang="ko-KR" altLang="en-US" sz="1200" dirty="0"/>
              <a:t>에서 </a:t>
            </a:r>
            <a:r>
              <a:rPr lang="en-US" altLang="ko-KR" sz="1200" dirty="0"/>
              <a:t>storage</a:t>
            </a:r>
            <a:r>
              <a:rPr lang="ko-KR" altLang="en-US" sz="1200" dirty="0"/>
              <a:t>를 이용함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내부적으로 관리하는 필드</a:t>
            </a:r>
            <a:endParaRPr lang="en-US" altLang="ko-KR" sz="1200" dirty="0"/>
          </a:p>
          <a:p>
            <a:r>
              <a:rPr lang="en-US" altLang="ko-KR" sz="1200" dirty="0"/>
              <a:t>    1) </a:t>
            </a:r>
            <a:r>
              <a:rPr lang="ko-KR" altLang="en-US" sz="1200" dirty="0" err="1"/>
              <a:t>수정자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update_user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저장시</a:t>
            </a:r>
            <a:r>
              <a:rPr lang="ko-KR" altLang="en-US" sz="1200" dirty="0"/>
              <a:t> </a:t>
            </a:r>
            <a:r>
              <a:rPr lang="en-US" altLang="ko-KR" sz="1200" dirty="0" err="1"/>
              <a:t>create_user</a:t>
            </a:r>
            <a:r>
              <a:rPr lang="en-US" altLang="ko-KR" sz="1200" dirty="0"/>
              <a:t> </a:t>
            </a:r>
            <a:r>
              <a:rPr lang="ko-KR" altLang="en-US" sz="1200" dirty="0"/>
              <a:t>와</a:t>
            </a:r>
            <a:r>
              <a:rPr lang="en-US" altLang="ko-KR" sz="1200" dirty="0"/>
              <a:t> </a:t>
            </a:r>
            <a:r>
              <a:rPr lang="ko-KR" altLang="en-US" sz="1200" dirty="0"/>
              <a:t>동일하게 등록함</a:t>
            </a:r>
            <a:endParaRPr lang="en-US" altLang="ko-KR" sz="1200" dirty="0"/>
          </a:p>
          <a:p>
            <a:r>
              <a:rPr lang="en-US" altLang="ko-KR" sz="1200" dirty="0"/>
              <a:t>    2) </a:t>
            </a:r>
            <a:r>
              <a:rPr lang="ko-KR" altLang="en-US" sz="1200" dirty="0"/>
              <a:t>수정일 </a:t>
            </a:r>
            <a:r>
              <a:rPr lang="en-US" altLang="ko-KR" sz="1200" dirty="0"/>
              <a:t>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update_date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저장시</a:t>
            </a:r>
            <a:r>
              <a:rPr lang="ko-KR" altLang="en-US" sz="1200" dirty="0"/>
              <a:t> </a:t>
            </a:r>
            <a:r>
              <a:rPr lang="en-US" altLang="ko-KR" sz="1200" dirty="0"/>
              <a:t>now()</a:t>
            </a:r>
            <a:r>
              <a:rPr lang="ko-KR" altLang="en-US" sz="1200" dirty="0"/>
              <a:t>을 등록함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timestamp</a:t>
            </a:r>
            <a:endParaRPr lang="ko-KR" altLang="en-US" sz="1200" dirty="0"/>
          </a:p>
        </p:txBody>
      </p:sp>
      <p:pic>
        <p:nvPicPr>
          <p:cNvPr id="9" name="그림 8" descr="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764139-796A-492E-6C35-ED0385727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83" y="161732"/>
            <a:ext cx="272374" cy="3252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D8644-499D-7164-A1C9-4C21B6C87E99}"/>
              </a:ext>
            </a:extLst>
          </p:cNvPr>
          <p:cNvSpPr txBox="1"/>
          <p:nvPr/>
        </p:nvSpPr>
        <p:spPr>
          <a:xfrm>
            <a:off x="832238" y="179248"/>
            <a:ext cx="2717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아이콘을 클릭할 때 화면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추가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95280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DE1E-99EA-C7EF-E1FE-8DEB2723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B119F4-4194-CDD6-0EDF-F0F90AE66AEE}"/>
              </a:ext>
            </a:extLst>
          </p:cNvPr>
          <p:cNvSpPr txBox="1"/>
          <p:nvPr/>
        </p:nvSpPr>
        <p:spPr>
          <a:xfrm>
            <a:off x="1133796" y="293640"/>
            <a:ext cx="2717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아이콘을 클릭할 때 화면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수정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pic>
        <p:nvPicPr>
          <p:cNvPr id="2" name="그림 1" descr="폰트, 상징, 직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F524AC-D47B-8731-EE9B-B8FAA4F0F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26" y="328417"/>
            <a:ext cx="256170" cy="238222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53074AE-AC79-6DED-0176-6C3EBE41B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991845"/>
              </p:ext>
            </p:extLst>
          </p:nvPr>
        </p:nvGraphicFramePr>
        <p:xfrm>
          <a:off x="787940" y="676043"/>
          <a:ext cx="10583693" cy="574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525">
                  <a:extLst>
                    <a:ext uri="{9D8B030D-6E8A-4147-A177-3AD203B41FA5}">
                      <a16:colId xmlns:a16="http://schemas.microsoft.com/office/drawing/2014/main" val="3982352560"/>
                    </a:ext>
                  </a:extLst>
                </a:gridCol>
                <a:gridCol w="3111464">
                  <a:extLst>
                    <a:ext uri="{9D8B030D-6E8A-4147-A177-3AD203B41FA5}">
                      <a16:colId xmlns:a16="http://schemas.microsoft.com/office/drawing/2014/main" val="2090855702"/>
                    </a:ext>
                  </a:extLst>
                </a:gridCol>
                <a:gridCol w="2622352">
                  <a:extLst>
                    <a:ext uri="{9D8B030D-6E8A-4147-A177-3AD203B41FA5}">
                      <a16:colId xmlns:a16="http://schemas.microsoft.com/office/drawing/2014/main" val="2546752587"/>
                    </a:ext>
                  </a:extLst>
                </a:gridCol>
                <a:gridCol w="2622352">
                  <a:extLst>
                    <a:ext uri="{9D8B030D-6E8A-4147-A177-3AD203B41FA5}">
                      <a16:colId xmlns:a16="http://schemas.microsoft.com/office/drawing/2014/main" val="2929786808"/>
                    </a:ext>
                  </a:extLst>
                </a:gridCol>
              </a:tblGrid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24151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게시일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2026-01-25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종료일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2999-12-31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879918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2026-01-25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84657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2026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년 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77477"/>
                  </a:ext>
                </a:extLst>
              </a:tr>
              <a:tr h="37396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94406"/>
                  </a:ext>
                </a:extLst>
              </a:tr>
              <a:tr h="4014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첨부파일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8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68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ADBE-EE5A-893F-894A-141A22C9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B8B691-5927-560C-9D0B-E211E0DF54A0}"/>
              </a:ext>
            </a:extLst>
          </p:cNvPr>
          <p:cNvSpPr txBox="1"/>
          <p:nvPr/>
        </p:nvSpPr>
        <p:spPr>
          <a:xfrm>
            <a:off x="635999" y="487025"/>
            <a:ext cx="3036409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 ■ 항목설명 </a:t>
            </a:r>
            <a:r>
              <a:rPr lang="en-US" altLang="ko-KR" sz="1200" dirty="0"/>
              <a:t>(</a:t>
            </a:r>
            <a:r>
              <a:rPr lang="ko-KR" altLang="en-US" sz="1200" dirty="0"/>
              <a:t>컬렉션 </a:t>
            </a:r>
            <a:r>
              <a:rPr lang="en-US" altLang="ko-KR" sz="1200" dirty="0"/>
              <a:t>:  </a:t>
            </a:r>
            <a:r>
              <a:rPr lang="en-US" altLang="ko-KR" sz="1200" dirty="0" err="1"/>
              <a:t>bta_notifications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1. </a:t>
            </a:r>
            <a:r>
              <a:rPr lang="ko-KR" altLang="en-US" sz="1200" dirty="0"/>
              <a:t>구분 </a:t>
            </a:r>
            <a:r>
              <a:rPr lang="en-US" altLang="ko-KR" sz="1200" dirty="0"/>
              <a:t>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notification_cd</a:t>
            </a:r>
            <a:r>
              <a:rPr lang="en-US" altLang="ko-KR" sz="1200" dirty="0"/>
              <a:t> 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 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공통코드 선택 </a:t>
            </a:r>
            <a:r>
              <a:rPr lang="en-US" altLang="ko-KR" sz="1200" dirty="0"/>
              <a:t>: </a:t>
            </a:r>
            <a:r>
              <a:rPr lang="ko-KR" altLang="en-US" sz="1200" dirty="0"/>
              <a:t>참조</a:t>
            </a:r>
            <a:r>
              <a:rPr lang="en-US" altLang="ko-KR" sz="1200" dirty="0"/>
              <a:t>1) </a:t>
            </a:r>
            <a:r>
              <a:rPr lang="ko-KR" altLang="en-US" sz="1200" dirty="0"/>
              <a:t>구분 참조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드롭다운 박스로 표시함</a:t>
            </a:r>
            <a:endParaRPr lang="en-US" altLang="ko-KR" sz="1200" dirty="0"/>
          </a:p>
          <a:p>
            <a:r>
              <a:rPr lang="en-US" altLang="ko-KR" sz="1200" dirty="0"/>
              <a:t>    2. </a:t>
            </a:r>
            <a:r>
              <a:rPr lang="ko-KR" altLang="en-US" sz="1200" dirty="0"/>
              <a:t>대상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user_type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공통코드 선택 </a:t>
            </a:r>
            <a:r>
              <a:rPr lang="en-US" altLang="ko-KR" sz="1200" dirty="0"/>
              <a:t>: </a:t>
            </a:r>
            <a:r>
              <a:rPr lang="ko-KR" altLang="en-US" sz="1200" dirty="0"/>
              <a:t>참조</a:t>
            </a:r>
            <a:r>
              <a:rPr lang="en-US" altLang="ko-KR" sz="1200" dirty="0"/>
              <a:t>2) </a:t>
            </a:r>
            <a:r>
              <a:rPr lang="ko-KR" altLang="en-US" sz="1200" dirty="0"/>
              <a:t>대상 참조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드롭다운 박스로 표시함</a:t>
            </a:r>
            <a:endParaRPr lang="en-US" altLang="ko-KR" sz="1200" dirty="0"/>
          </a:p>
          <a:p>
            <a:r>
              <a:rPr lang="en-US" altLang="ko-KR" sz="1200" dirty="0"/>
              <a:t>    3. </a:t>
            </a:r>
            <a:r>
              <a:rPr lang="ko-KR" altLang="en-US" sz="1200" dirty="0"/>
              <a:t>개시일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start_ymd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달력으로 선택 </a:t>
            </a:r>
            <a:r>
              <a:rPr lang="en-US" altLang="ko-KR" sz="1200" dirty="0"/>
              <a:t>or </a:t>
            </a:r>
            <a:r>
              <a:rPr lang="ko-KR" altLang="en-US" sz="1200" dirty="0"/>
              <a:t>키보드 입력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</a:t>
            </a:r>
          </a:p>
          <a:p>
            <a:r>
              <a:rPr lang="en-US" altLang="ko-KR" sz="1200" dirty="0"/>
              <a:t>    4. </a:t>
            </a:r>
            <a:r>
              <a:rPr lang="ko-KR" altLang="en-US" sz="1200" dirty="0"/>
              <a:t>종료일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end_ymd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달력으로 선택 </a:t>
            </a:r>
            <a:r>
              <a:rPr lang="en-US" altLang="ko-KR" sz="1200" dirty="0"/>
              <a:t>or </a:t>
            </a:r>
            <a:r>
              <a:rPr lang="ko-KR" altLang="en-US" sz="1200" dirty="0"/>
              <a:t>키보드 입력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</a:t>
            </a:r>
          </a:p>
          <a:p>
            <a:r>
              <a:rPr lang="en-US" altLang="ko-KR" sz="1200" dirty="0"/>
              <a:t>       4) default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2999-12-31</a:t>
            </a:r>
          </a:p>
          <a:p>
            <a:r>
              <a:rPr lang="en-US" altLang="ko-KR" sz="1200" dirty="0"/>
              <a:t>    5. </a:t>
            </a:r>
            <a:r>
              <a:rPr lang="ko-KR" altLang="en-US" sz="1200" dirty="0"/>
              <a:t>작성일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create_ymd</a:t>
            </a:r>
            <a:r>
              <a:rPr lang="en-US" altLang="ko-KR" sz="1200" dirty="0"/>
              <a:t> 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달력으로 선택 </a:t>
            </a:r>
            <a:r>
              <a:rPr lang="en-US" altLang="ko-KR" sz="1200" dirty="0"/>
              <a:t>or </a:t>
            </a:r>
            <a:r>
              <a:rPr lang="ko-KR" altLang="en-US" sz="1200" dirty="0"/>
              <a:t>키보드 입력</a:t>
            </a:r>
            <a:endParaRPr lang="en-US" altLang="ko-KR" sz="1200" dirty="0"/>
          </a:p>
          <a:p>
            <a:r>
              <a:rPr lang="en-US" altLang="ko-KR" sz="1200" dirty="0"/>
              <a:t>       3) default : </a:t>
            </a:r>
            <a:r>
              <a:rPr lang="en-US" altLang="ko-KR" sz="1200" dirty="0" err="1"/>
              <a:t>current_date</a:t>
            </a:r>
            <a:r>
              <a:rPr lang="en-US" altLang="ko-KR" sz="1200" dirty="0"/>
              <a:t>()</a:t>
            </a:r>
          </a:p>
          <a:p>
            <a:r>
              <a:rPr lang="en-US" altLang="ko-KR" sz="1200" dirty="0"/>
              <a:t>       4)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  </a:t>
            </a:r>
          </a:p>
          <a:p>
            <a:r>
              <a:rPr lang="en-US" altLang="ko-KR" sz="1200" dirty="0"/>
              <a:t>       5) </a:t>
            </a:r>
            <a:r>
              <a:rPr lang="ko-KR" altLang="en-US" sz="1200" dirty="0"/>
              <a:t>수정불가</a:t>
            </a:r>
            <a:r>
              <a:rPr lang="en-US" altLang="ko-KR" sz="1200" dirty="0"/>
              <a:t>  </a:t>
            </a:r>
          </a:p>
          <a:p>
            <a:r>
              <a:rPr lang="en-US" altLang="ko-KR" sz="1200" dirty="0"/>
              <a:t>    6. </a:t>
            </a:r>
            <a:r>
              <a:rPr lang="ko-KR" altLang="en-US" sz="1200" dirty="0"/>
              <a:t>작성자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create_user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   2) </a:t>
            </a:r>
            <a:r>
              <a:rPr lang="ko-KR" altLang="en-US" sz="1200" dirty="0"/>
              <a:t>로그인한 </a:t>
            </a:r>
            <a:r>
              <a:rPr lang="en-US" altLang="ko-KR" sz="1200" dirty="0"/>
              <a:t>user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en-US" sz="1200" dirty="0"/>
              <a:t>성명</a:t>
            </a:r>
            <a:endParaRPr lang="en-US" altLang="ko-KR" sz="1200" dirty="0"/>
          </a:p>
          <a:p>
            <a:r>
              <a:rPr lang="en-US" altLang="ko-KR" sz="1200" dirty="0"/>
              <a:t>       3) </a:t>
            </a:r>
            <a:r>
              <a:rPr lang="ko-KR" altLang="en-US" sz="1200" dirty="0"/>
              <a:t>수정불가</a:t>
            </a:r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       4)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string           </a:t>
            </a:r>
          </a:p>
          <a:p>
            <a:r>
              <a:rPr lang="en-US" altLang="ko-KR" sz="1200" dirty="0"/>
              <a:t>    7. </a:t>
            </a:r>
            <a:r>
              <a:rPr lang="ko-KR" altLang="en-US" sz="1200" dirty="0"/>
              <a:t>제목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title)</a:t>
            </a:r>
          </a:p>
          <a:p>
            <a:r>
              <a:rPr lang="en-US" altLang="ko-KR" sz="1200" dirty="0"/>
              <a:t>    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080DE-FF47-2193-93EF-C22FEAE8BAF2}"/>
              </a:ext>
            </a:extLst>
          </p:cNvPr>
          <p:cNvSpPr txBox="1"/>
          <p:nvPr/>
        </p:nvSpPr>
        <p:spPr>
          <a:xfrm>
            <a:off x="4070752" y="710762"/>
            <a:ext cx="349781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8. </a:t>
            </a:r>
            <a:r>
              <a:rPr lang="ko-KR" altLang="en-US" sz="1200" dirty="0"/>
              <a:t>내용</a:t>
            </a:r>
            <a:r>
              <a:rPr lang="en-US" altLang="ko-KR" sz="1200" dirty="0"/>
              <a:t> 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contents)</a:t>
            </a:r>
          </a:p>
          <a:p>
            <a:r>
              <a:rPr lang="en-US" altLang="ko-KR" sz="1200" dirty="0"/>
              <a:t>    1) </a:t>
            </a:r>
            <a:r>
              <a:rPr lang="ko-KR" altLang="en-US" sz="1200" dirty="0"/>
              <a:t>필수 필드</a:t>
            </a:r>
            <a:endParaRPr lang="en-US" altLang="ko-KR" sz="1200" dirty="0"/>
          </a:p>
          <a:p>
            <a:r>
              <a:rPr lang="en-US" altLang="ko-KR" sz="1200" dirty="0"/>
              <a:t>    2) 5000</a:t>
            </a:r>
            <a:r>
              <a:rPr lang="ko-KR" altLang="en-US" sz="1200" dirty="0"/>
              <a:t>자</a:t>
            </a:r>
            <a:r>
              <a:rPr lang="en-US" altLang="ko-KR" sz="1200" dirty="0"/>
              <a:t> </a:t>
            </a:r>
            <a:r>
              <a:rPr lang="ko-KR" altLang="en-US" sz="1200" dirty="0"/>
              <a:t>이상 등록 가능해야 함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/>
              <a:t>내용이 많으면 스크롤이 생겨야 됨</a:t>
            </a:r>
            <a:endParaRPr lang="en-US" altLang="ko-KR" sz="1200" dirty="0"/>
          </a:p>
          <a:p>
            <a:r>
              <a:rPr lang="en-US" altLang="ko-KR" sz="1200" dirty="0"/>
              <a:t>9. </a:t>
            </a:r>
            <a:r>
              <a:rPr lang="ko-KR" altLang="en-US" sz="1200" dirty="0"/>
              <a:t>첨부파일</a:t>
            </a:r>
            <a:endParaRPr lang="en-US" altLang="ko-KR" sz="1200" dirty="0"/>
          </a:p>
          <a:p>
            <a:r>
              <a:rPr lang="en-US" altLang="ko-KR" sz="1200" dirty="0"/>
              <a:t>    1) </a:t>
            </a:r>
            <a:r>
              <a:rPr lang="ko-KR" altLang="en-US" sz="1200" dirty="0"/>
              <a:t>필수 필드 아님</a:t>
            </a:r>
            <a:endParaRPr lang="en-US" altLang="ko-KR" sz="1200" dirty="0"/>
          </a:p>
          <a:p>
            <a:r>
              <a:rPr lang="en-US" altLang="ko-KR" sz="1200" dirty="0"/>
              <a:t>    2) firebase</a:t>
            </a:r>
            <a:r>
              <a:rPr lang="ko-KR" altLang="en-US" sz="1200" dirty="0"/>
              <a:t>에서 </a:t>
            </a:r>
            <a:r>
              <a:rPr lang="en-US" altLang="ko-KR" sz="1200" dirty="0"/>
              <a:t>storage</a:t>
            </a:r>
            <a:r>
              <a:rPr lang="ko-KR" altLang="en-US" sz="1200" dirty="0"/>
              <a:t>를 이용함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내부적으로 관리하는 필드</a:t>
            </a:r>
            <a:endParaRPr lang="en-US" altLang="ko-KR" sz="1200" dirty="0"/>
          </a:p>
          <a:p>
            <a:r>
              <a:rPr lang="en-US" altLang="ko-KR" sz="1200" dirty="0"/>
              <a:t>    1) </a:t>
            </a:r>
            <a:r>
              <a:rPr lang="ko-KR" altLang="en-US" sz="1200" dirty="0" err="1"/>
              <a:t>수정자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update_user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저장시</a:t>
            </a:r>
            <a:r>
              <a:rPr lang="ko-KR" altLang="en-US" sz="1200" dirty="0"/>
              <a:t> </a:t>
            </a:r>
            <a:r>
              <a:rPr lang="en-US" altLang="ko-KR" sz="1200" dirty="0" err="1"/>
              <a:t>create_user</a:t>
            </a:r>
            <a:r>
              <a:rPr lang="en-US" altLang="ko-KR" sz="1200" dirty="0"/>
              <a:t> </a:t>
            </a:r>
            <a:r>
              <a:rPr lang="ko-KR" altLang="en-US" sz="1200" dirty="0"/>
              <a:t>와</a:t>
            </a:r>
            <a:r>
              <a:rPr lang="en-US" altLang="ko-KR" sz="1200" dirty="0"/>
              <a:t> </a:t>
            </a:r>
            <a:r>
              <a:rPr lang="ko-KR" altLang="en-US" sz="1200" dirty="0"/>
              <a:t>동일하게 등록함</a:t>
            </a:r>
            <a:endParaRPr lang="en-US" altLang="ko-KR" sz="1200" dirty="0"/>
          </a:p>
          <a:p>
            <a:r>
              <a:rPr lang="en-US" altLang="ko-KR" sz="1200" dirty="0"/>
              <a:t>    2) </a:t>
            </a:r>
            <a:r>
              <a:rPr lang="ko-KR" altLang="en-US" sz="1200" dirty="0"/>
              <a:t>수정일 </a:t>
            </a:r>
            <a:r>
              <a:rPr lang="en-US" altLang="ko-KR" sz="1200" dirty="0"/>
              <a:t>(</a:t>
            </a:r>
            <a:r>
              <a:rPr lang="ko-KR" altLang="en-US" sz="1200" dirty="0"/>
              <a:t>필드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update_date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저장시</a:t>
            </a:r>
            <a:r>
              <a:rPr lang="ko-KR" altLang="en-US" sz="1200" dirty="0"/>
              <a:t> </a:t>
            </a:r>
            <a:r>
              <a:rPr lang="en-US" altLang="ko-KR" sz="1200" dirty="0"/>
              <a:t>now()</a:t>
            </a:r>
            <a:r>
              <a:rPr lang="ko-KR" altLang="en-US" sz="1200" dirty="0"/>
              <a:t>을 등록함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/>
              <a:t>자료형 </a:t>
            </a:r>
            <a:r>
              <a:rPr lang="en-US" altLang="ko-KR" sz="1200" dirty="0"/>
              <a:t>: timestamp</a:t>
            </a: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497B0-BAF8-DECA-3750-EB94281D1504}"/>
              </a:ext>
            </a:extLst>
          </p:cNvPr>
          <p:cNvSpPr txBox="1"/>
          <p:nvPr/>
        </p:nvSpPr>
        <p:spPr>
          <a:xfrm>
            <a:off x="1065700" y="186632"/>
            <a:ext cx="27174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아이콘을 클릭할 때 화면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수정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pic>
        <p:nvPicPr>
          <p:cNvPr id="3" name="그림 2" descr="폰트, 상징, 직사각형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10FAC1-60F1-4118-8296-6433C5705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0" y="221409"/>
            <a:ext cx="256170" cy="2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636D-B9AF-49B5-0F45-5A1DA4B8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57559-AD94-5579-A86F-2CB66539CE72}"/>
              </a:ext>
            </a:extLst>
          </p:cNvPr>
          <p:cNvSpPr txBox="1"/>
          <p:nvPr/>
        </p:nvSpPr>
        <p:spPr>
          <a:xfrm>
            <a:off x="230628" y="330740"/>
            <a:ext cx="384592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400" dirty="0"/>
              <a:t>1. </a:t>
            </a:r>
            <a:r>
              <a:rPr lang="ko-KR" altLang="en-US" sz="1400" dirty="0"/>
              <a:t>전달사항 스키마</a:t>
            </a:r>
          </a:p>
          <a:p>
            <a:r>
              <a:rPr lang="ko-KR" altLang="en-US" sz="1400" dirty="0"/>
              <a:t>     </a:t>
            </a:r>
            <a:r>
              <a:rPr lang="en-US" altLang="ko-KR" sz="1400" dirty="0"/>
              <a:t>1) </a:t>
            </a:r>
            <a:r>
              <a:rPr lang="ko-KR" altLang="en-US" sz="1400" dirty="0"/>
              <a:t>컬렉션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bta_notifications</a:t>
            </a:r>
            <a:endParaRPr lang="en-US" altLang="ko-KR" sz="1400" dirty="0"/>
          </a:p>
          <a:p>
            <a:r>
              <a:rPr lang="en-US" altLang="ko-KR" sz="1400" dirty="0"/>
              <a:t>           </a:t>
            </a:r>
            <a:r>
              <a:rPr lang="ko-KR" altLang="en-US" sz="1400" dirty="0"/>
              <a:t>필드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notification_id</a:t>
            </a:r>
            <a:r>
              <a:rPr lang="en-US" altLang="ko-KR" sz="1400" dirty="0"/>
              <a:t> : sequence (pk)</a:t>
            </a:r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notification_cd</a:t>
            </a:r>
            <a:r>
              <a:rPr lang="en-US" altLang="ko-KR" sz="1400" dirty="0"/>
              <a:t> : </a:t>
            </a:r>
            <a:r>
              <a:rPr lang="ko-KR" altLang="en-US" sz="1400" dirty="0"/>
              <a:t>전달사항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user_type</a:t>
            </a:r>
            <a:r>
              <a:rPr lang="en-US" altLang="ko-KR" sz="1400" dirty="0"/>
              <a:t> : </a:t>
            </a:r>
            <a:r>
              <a:rPr lang="ko-KR" altLang="en-US" sz="1400" dirty="0"/>
              <a:t>대상</a:t>
            </a:r>
            <a:endParaRPr lang="en-US" altLang="ko-KR" sz="1400" dirty="0"/>
          </a:p>
          <a:p>
            <a:r>
              <a:rPr lang="en-US" altLang="ko-KR" sz="1400" dirty="0"/>
              <a:t>                   title        : </a:t>
            </a:r>
            <a:r>
              <a:rPr lang="ko-KR" altLang="en-US" sz="1400" dirty="0"/>
              <a:t>제목</a:t>
            </a:r>
            <a:endParaRPr lang="en-US" altLang="ko-KR" sz="1400" dirty="0"/>
          </a:p>
          <a:p>
            <a:r>
              <a:rPr lang="en-US" altLang="ko-KR" sz="1400" dirty="0"/>
              <a:t>                   contents  : </a:t>
            </a:r>
            <a:r>
              <a:rPr lang="ko-KR" altLang="en-US" sz="1400" dirty="0"/>
              <a:t>내용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create_ymd</a:t>
            </a:r>
            <a:r>
              <a:rPr lang="en-US" altLang="ko-KR" sz="1400" dirty="0"/>
              <a:t> : </a:t>
            </a:r>
            <a:r>
              <a:rPr lang="ko-KR" altLang="en-US" sz="1400" dirty="0"/>
              <a:t>작성일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start_ymd</a:t>
            </a:r>
            <a:r>
              <a:rPr lang="en-US" altLang="ko-KR" sz="1400" dirty="0"/>
              <a:t> : </a:t>
            </a:r>
            <a:r>
              <a:rPr lang="ko-KR" altLang="en-US" sz="1400" dirty="0"/>
              <a:t>개시일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end_ymd</a:t>
            </a:r>
            <a:r>
              <a:rPr lang="en-US" altLang="ko-KR" sz="1400" dirty="0"/>
              <a:t> : </a:t>
            </a:r>
            <a:r>
              <a:rPr lang="ko-KR" altLang="en-US" sz="1400" dirty="0"/>
              <a:t>종료일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create_user</a:t>
            </a:r>
            <a:r>
              <a:rPr lang="en-US" altLang="ko-KR" sz="1400" dirty="0"/>
              <a:t> : </a:t>
            </a:r>
            <a:r>
              <a:rPr lang="ko-KR" altLang="en-US" sz="1400" dirty="0"/>
              <a:t>작성자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update_user</a:t>
            </a:r>
            <a:r>
              <a:rPr lang="en-US" altLang="ko-KR" sz="1400" dirty="0"/>
              <a:t> : </a:t>
            </a:r>
            <a:r>
              <a:rPr lang="ko-KR" altLang="en-US" sz="1400" dirty="0" err="1"/>
              <a:t>수정자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  <a:r>
              <a:rPr lang="en-US" altLang="ko-KR" sz="1400" dirty="0" err="1"/>
              <a:t>update_date</a:t>
            </a:r>
            <a:r>
              <a:rPr lang="en-US" altLang="ko-KR" sz="1400" dirty="0"/>
              <a:t> : </a:t>
            </a:r>
            <a:r>
              <a:rPr lang="ko-KR" altLang="en-US" sz="1400" dirty="0"/>
              <a:t>수정일</a:t>
            </a:r>
            <a:endParaRPr lang="en-US" altLang="ko-KR" sz="1400" dirty="0"/>
          </a:p>
          <a:p>
            <a:r>
              <a:rPr lang="en-US" altLang="ko-KR" sz="1400" dirty="0"/>
              <a:t>                   </a:t>
            </a:r>
          </a:p>
          <a:p>
            <a:r>
              <a:rPr lang="en-US" altLang="ko-KR" sz="1400" dirty="0"/>
              <a:t>      2) </a:t>
            </a:r>
            <a:r>
              <a:rPr lang="ko-KR" altLang="en-US" sz="1400" dirty="0"/>
              <a:t>첨부파일 </a:t>
            </a:r>
            <a:endParaRPr lang="en-US" altLang="ko-KR" sz="1400" dirty="0"/>
          </a:p>
          <a:p>
            <a:r>
              <a:rPr lang="en-US" altLang="ko-KR" sz="1400" dirty="0"/>
              <a:t>          firebase</a:t>
            </a:r>
            <a:r>
              <a:rPr lang="ko-KR" altLang="en-US" sz="1400" dirty="0"/>
              <a:t>의 </a:t>
            </a:r>
            <a:r>
              <a:rPr lang="en-US" altLang="ko-KR" sz="1400" dirty="0"/>
              <a:t>storge</a:t>
            </a:r>
            <a:r>
              <a:rPr lang="ko-KR" altLang="en-US" sz="1400" dirty="0"/>
              <a:t>를 이용함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469D7-19D2-6290-C1D1-EBD74F1BA2B2}"/>
              </a:ext>
            </a:extLst>
          </p:cNvPr>
          <p:cNvSpPr txBox="1"/>
          <p:nvPr/>
        </p:nvSpPr>
        <p:spPr>
          <a:xfrm>
            <a:off x="5097461" y="364440"/>
            <a:ext cx="4989315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■ 공통코드 가져오는 </a:t>
            </a:r>
            <a:r>
              <a:rPr lang="en-US" altLang="ko-KR" sz="1200" dirty="0" err="1"/>
              <a:t>mysql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    </a:t>
            </a:r>
            <a:r>
              <a:rPr lang="ko-KR" altLang="en-US" sz="1200" dirty="0"/>
              <a:t>● 참조</a:t>
            </a:r>
            <a:r>
              <a:rPr lang="en-US" altLang="ko-KR" sz="1200" dirty="0"/>
              <a:t>1 ) </a:t>
            </a:r>
            <a:r>
              <a:rPr lang="ko-KR" altLang="en-US" sz="1200" dirty="0"/>
              <a:t>구분</a:t>
            </a:r>
            <a:endParaRPr lang="en-US" altLang="ko-KR" sz="1200" dirty="0"/>
          </a:p>
          <a:p>
            <a:pPr lvl="1"/>
            <a:r>
              <a:rPr lang="en-US" altLang="ko-KR" sz="1200" dirty="0"/>
              <a:t>Select </a:t>
            </a:r>
            <a:r>
              <a:rPr lang="en-US" altLang="ko-KR" sz="1200" dirty="0" err="1"/>
              <a:t>blv.value_cd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blv.value_nm</a:t>
            </a:r>
            <a:endParaRPr lang="en-US" altLang="ko-KR" sz="1200" dirty="0"/>
          </a:p>
          <a:p>
            <a:pPr lvl="1"/>
            <a:r>
              <a:rPr lang="en-US" altLang="ko-KR" sz="1200" dirty="0"/>
              <a:t>  from </a:t>
            </a:r>
            <a:r>
              <a:rPr lang="en-US" altLang="ko-KR" sz="1200" dirty="0" err="1"/>
              <a:t>bta_lookup_type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blt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bta_lookup_value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blv</a:t>
            </a:r>
            <a:endParaRPr lang="en-US" altLang="ko-KR" sz="1200" dirty="0"/>
          </a:p>
          <a:p>
            <a:pPr lvl="1"/>
            <a:r>
              <a:rPr lang="en-US" altLang="ko-KR" sz="1200" dirty="0"/>
              <a:t> where </a:t>
            </a:r>
            <a:r>
              <a:rPr lang="en-US" altLang="ko-KR" sz="1200" dirty="0" err="1"/>
              <a:t>blt.type_cd</a:t>
            </a:r>
            <a:r>
              <a:rPr lang="en-US" altLang="ko-KR" sz="1200" dirty="0"/>
              <a:t> = ‘150’ – </a:t>
            </a:r>
            <a:r>
              <a:rPr lang="ko-KR" altLang="en-US" sz="1200" dirty="0"/>
              <a:t>전달사항</a:t>
            </a:r>
            <a:endParaRPr lang="en-US" altLang="ko-KR" sz="1200" dirty="0"/>
          </a:p>
          <a:p>
            <a:pPr lvl="1"/>
            <a:r>
              <a:rPr lang="en-US" altLang="ko-KR" sz="1200" dirty="0"/>
              <a:t>   </a:t>
            </a:r>
            <a:r>
              <a:rPr lang="ko-KR" altLang="en-US" sz="1200" dirty="0"/>
              <a:t> </a:t>
            </a:r>
            <a:r>
              <a:rPr lang="en-US" altLang="ko-KR" sz="1200" dirty="0"/>
              <a:t>and</a:t>
            </a:r>
            <a:r>
              <a:rPr lang="ko-KR" altLang="en-US" sz="1200" dirty="0"/>
              <a:t> </a:t>
            </a:r>
            <a:r>
              <a:rPr lang="en-US" altLang="ko-KR" sz="1200" dirty="0" err="1"/>
              <a:t>blt_type_cd</a:t>
            </a:r>
            <a:r>
              <a:rPr lang="ko-KR" altLang="en-US" sz="1200" dirty="0"/>
              <a:t> </a:t>
            </a:r>
            <a:r>
              <a:rPr lang="en-US" altLang="ko-KR" sz="1200" dirty="0"/>
              <a:t>=</a:t>
            </a:r>
            <a:r>
              <a:rPr lang="ko-KR" altLang="en-US" sz="1200" dirty="0"/>
              <a:t> </a:t>
            </a:r>
            <a:r>
              <a:rPr lang="en-US" altLang="ko-KR" sz="1200" dirty="0" err="1"/>
              <a:t>blv.typ_cd</a:t>
            </a:r>
            <a:endParaRPr lang="en-US" altLang="ko-KR" sz="1200" dirty="0"/>
          </a:p>
          <a:p>
            <a:pPr lvl="1"/>
            <a:r>
              <a:rPr lang="en-US" altLang="ko-KR" sz="1200" dirty="0"/>
              <a:t>    and </a:t>
            </a:r>
            <a:r>
              <a:rPr lang="en-US" altLang="ko-KR" sz="1200" dirty="0" err="1"/>
              <a:t>current_date</a:t>
            </a:r>
            <a:r>
              <a:rPr lang="en-US" altLang="ko-KR" sz="1200" dirty="0"/>
              <a:t>() between </a:t>
            </a:r>
            <a:r>
              <a:rPr lang="en-US" altLang="ko-KR" sz="1200" dirty="0" err="1"/>
              <a:t>blv.start_ymd</a:t>
            </a:r>
            <a:r>
              <a:rPr lang="en-US" altLang="ko-KR" sz="1200" dirty="0"/>
              <a:t> and </a:t>
            </a:r>
            <a:r>
              <a:rPr lang="en-US" altLang="ko-KR" sz="1200" dirty="0" err="1"/>
              <a:t>blv.end_ymd</a:t>
            </a:r>
            <a:endParaRPr lang="en-US" altLang="ko-KR" sz="1200" dirty="0"/>
          </a:p>
          <a:p>
            <a:pPr lvl="1"/>
            <a:r>
              <a:rPr lang="en-US" altLang="ko-KR" sz="1200" dirty="0"/>
              <a:t>  order by sort </a:t>
            </a:r>
          </a:p>
          <a:p>
            <a:pPr lvl="1"/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ko-KR" altLang="en-US" sz="1200" dirty="0"/>
              <a:t>● 참조</a:t>
            </a:r>
            <a:r>
              <a:rPr lang="en-US" altLang="ko-KR" sz="1200" dirty="0"/>
              <a:t>2 ) </a:t>
            </a:r>
            <a:r>
              <a:rPr lang="ko-KR" altLang="en-US" sz="1200" dirty="0"/>
              <a:t>대상</a:t>
            </a:r>
            <a:endParaRPr lang="en-US" altLang="ko-KR" sz="1200" dirty="0"/>
          </a:p>
          <a:p>
            <a:r>
              <a:rPr lang="en-US" altLang="ko-KR" sz="1200" dirty="0"/>
              <a:t>        select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전체</a:t>
            </a:r>
            <a:r>
              <a:rPr lang="en-US" altLang="ko-KR" sz="1200" dirty="0"/>
              <a:t>’</a:t>
            </a:r>
            <a:r>
              <a:rPr lang="ko-KR" altLang="en-US" sz="1200" dirty="0"/>
              <a:t> 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‘</a:t>
            </a:r>
            <a:r>
              <a:rPr lang="ko-KR" altLang="en-US" sz="1200" dirty="0"/>
              <a:t>전체</a:t>
            </a:r>
            <a:r>
              <a:rPr lang="en-US" altLang="ko-KR" sz="1200" dirty="0"/>
              <a:t>’</a:t>
            </a:r>
          </a:p>
          <a:p>
            <a:r>
              <a:rPr lang="en-US" altLang="ko-KR" sz="1200" dirty="0"/>
              <a:t>          from dual</a:t>
            </a:r>
          </a:p>
          <a:p>
            <a:r>
              <a:rPr lang="en-US" altLang="ko-KR" sz="1200" dirty="0"/>
              <a:t>       union</a:t>
            </a:r>
          </a:p>
          <a:p>
            <a:pPr lvl="1"/>
            <a:r>
              <a:rPr lang="en-US" altLang="ko-KR" sz="1200" dirty="0"/>
              <a:t>Select </a:t>
            </a:r>
            <a:r>
              <a:rPr lang="en-US" altLang="ko-KR" sz="1200" dirty="0" err="1"/>
              <a:t>blv.value_cd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blv.value_nm</a:t>
            </a:r>
            <a:endParaRPr lang="en-US" altLang="ko-KR" sz="1200" dirty="0"/>
          </a:p>
          <a:p>
            <a:pPr lvl="1"/>
            <a:r>
              <a:rPr lang="en-US" altLang="ko-KR" sz="1200" dirty="0"/>
              <a:t>  from </a:t>
            </a:r>
            <a:r>
              <a:rPr lang="en-US" altLang="ko-KR" sz="1200" dirty="0" err="1"/>
              <a:t>bta_lookup_type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blt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bta_lookup_value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blv</a:t>
            </a:r>
            <a:endParaRPr lang="en-US" altLang="ko-KR" sz="1200" dirty="0"/>
          </a:p>
          <a:p>
            <a:pPr lvl="1"/>
            <a:r>
              <a:rPr lang="en-US" altLang="ko-KR" sz="1200" dirty="0"/>
              <a:t> where </a:t>
            </a:r>
            <a:r>
              <a:rPr lang="en-US" altLang="ko-KR" sz="1200" dirty="0" err="1"/>
              <a:t>blt.type_cd</a:t>
            </a:r>
            <a:r>
              <a:rPr lang="en-US" altLang="ko-KR" sz="1200" dirty="0"/>
              <a:t> = ‘110’ – </a:t>
            </a:r>
            <a:r>
              <a:rPr lang="ko-KR" altLang="en-US" sz="1200" dirty="0"/>
              <a:t>사용자구분</a:t>
            </a:r>
            <a:endParaRPr lang="en-US" altLang="ko-KR" sz="1200" dirty="0"/>
          </a:p>
          <a:p>
            <a:pPr lvl="1"/>
            <a:r>
              <a:rPr lang="en-US" altLang="ko-KR" sz="1200" dirty="0"/>
              <a:t>   </a:t>
            </a:r>
            <a:r>
              <a:rPr lang="ko-KR" altLang="en-US" sz="1200" dirty="0"/>
              <a:t> </a:t>
            </a:r>
            <a:r>
              <a:rPr lang="en-US" altLang="ko-KR" sz="1200" dirty="0"/>
              <a:t>and</a:t>
            </a:r>
            <a:r>
              <a:rPr lang="ko-KR" altLang="en-US" sz="1200" dirty="0"/>
              <a:t> </a:t>
            </a:r>
            <a:r>
              <a:rPr lang="en-US" altLang="ko-KR" sz="1200" dirty="0" err="1"/>
              <a:t>blt_type_cd</a:t>
            </a:r>
            <a:r>
              <a:rPr lang="ko-KR" altLang="en-US" sz="1200" dirty="0"/>
              <a:t> </a:t>
            </a:r>
            <a:r>
              <a:rPr lang="en-US" altLang="ko-KR" sz="1200" dirty="0"/>
              <a:t>=</a:t>
            </a:r>
            <a:r>
              <a:rPr lang="ko-KR" altLang="en-US" sz="1200" dirty="0"/>
              <a:t> </a:t>
            </a:r>
            <a:r>
              <a:rPr lang="en-US" altLang="ko-KR" sz="1200" dirty="0" err="1"/>
              <a:t>blv.typ_cd</a:t>
            </a:r>
            <a:endParaRPr lang="en-US" altLang="ko-KR" sz="1200" dirty="0"/>
          </a:p>
          <a:p>
            <a:pPr lvl="1"/>
            <a:r>
              <a:rPr lang="en-US" altLang="ko-KR" sz="1200" dirty="0"/>
              <a:t>    and </a:t>
            </a:r>
            <a:r>
              <a:rPr lang="en-US" altLang="ko-KR" sz="1200" dirty="0" err="1"/>
              <a:t>current_date</a:t>
            </a:r>
            <a:r>
              <a:rPr lang="en-US" altLang="ko-KR" sz="1200" dirty="0"/>
              <a:t>() between </a:t>
            </a:r>
            <a:r>
              <a:rPr lang="en-US" altLang="ko-KR" sz="1200" dirty="0" err="1"/>
              <a:t>blv.start_ymd</a:t>
            </a:r>
            <a:r>
              <a:rPr lang="en-US" altLang="ko-KR" sz="1200" dirty="0"/>
              <a:t> and </a:t>
            </a:r>
            <a:r>
              <a:rPr lang="en-US" altLang="ko-KR" sz="1200" dirty="0" err="1"/>
              <a:t>blv.end_ymd</a:t>
            </a:r>
            <a:endParaRPr lang="en-US" altLang="ko-KR" sz="1200" dirty="0"/>
          </a:p>
          <a:p>
            <a:pPr lvl="1"/>
            <a:r>
              <a:rPr lang="en-US" altLang="ko-KR" sz="1200" dirty="0"/>
              <a:t>  order by sort </a:t>
            </a:r>
          </a:p>
          <a:p>
            <a:pPr lvl="1"/>
            <a:endParaRPr lang="en-US" altLang="ko-KR" sz="1200" dirty="0"/>
          </a:p>
          <a:p>
            <a:r>
              <a:rPr lang="en-US" altLang="ko-KR" sz="1200" dirty="0"/>
              <a:t> </a:t>
            </a:r>
            <a:r>
              <a:rPr lang="ko-KR" altLang="en-US" sz="1200" dirty="0"/>
              <a:t>● 참조</a:t>
            </a:r>
            <a:r>
              <a:rPr lang="en-US" altLang="ko-KR" sz="1200" dirty="0"/>
              <a:t>3 ) </a:t>
            </a:r>
            <a:r>
              <a:rPr lang="ko-KR" altLang="en-US" sz="1200" dirty="0"/>
              <a:t>대상</a:t>
            </a:r>
            <a:endParaRPr lang="en-US" altLang="ko-KR" sz="1200" dirty="0"/>
          </a:p>
          <a:p>
            <a:pPr lvl="1"/>
            <a:r>
              <a:rPr lang="en-US" altLang="ko-KR" sz="1200" dirty="0"/>
              <a:t>Select </a:t>
            </a:r>
            <a:r>
              <a:rPr lang="en-US" altLang="ko-KR" sz="1200" dirty="0" err="1"/>
              <a:t>blv.value_cd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blv.value_nm</a:t>
            </a:r>
            <a:endParaRPr lang="en-US" altLang="ko-KR" sz="1200" dirty="0"/>
          </a:p>
          <a:p>
            <a:pPr lvl="1"/>
            <a:r>
              <a:rPr lang="en-US" altLang="ko-KR" sz="1200" dirty="0"/>
              <a:t>  from </a:t>
            </a:r>
            <a:r>
              <a:rPr lang="en-US" altLang="ko-KR" sz="1200" dirty="0" err="1"/>
              <a:t>bta_lookup_type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blt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bta_lookup_value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blv</a:t>
            </a:r>
            <a:endParaRPr lang="en-US" altLang="ko-KR" sz="1200" dirty="0"/>
          </a:p>
          <a:p>
            <a:pPr lvl="1"/>
            <a:r>
              <a:rPr lang="en-US" altLang="ko-KR" sz="1200" dirty="0"/>
              <a:t> where </a:t>
            </a:r>
            <a:r>
              <a:rPr lang="en-US" altLang="ko-KR" sz="1200" dirty="0" err="1"/>
              <a:t>blt.type_cd</a:t>
            </a:r>
            <a:r>
              <a:rPr lang="en-US" altLang="ko-KR" sz="1200" dirty="0"/>
              <a:t> = ‘110’ – </a:t>
            </a:r>
            <a:r>
              <a:rPr lang="ko-KR" altLang="en-US" sz="1200" dirty="0"/>
              <a:t>사용자구분</a:t>
            </a:r>
            <a:endParaRPr lang="en-US" altLang="ko-KR" sz="1200" dirty="0"/>
          </a:p>
          <a:p>
            <a:pPr lvl="1"/>
            <a:r>
              <a:rPr lang="en-US" altLang="ko-KR" sz="1200" dirty="0"/>
              <a:t>   </a:t>
            </a:r>
            <a:r>
              <a:rPr lang="ko-KR" altLang="en-US" sz="1200" dirty="0"/>
              <a:t> </a:t>
            </a:r>
            <a:r>
              <a:rPr lang="en-US" altLang="ko-KR" sz="1200" dirty="0"/>
              <a:t>and</a:t>
            </a:r>
            <a:r>
              <a:rPr lang="ko-KR" altLang="en-US" sz="1200" dirty="0"/>
              <a:t> </a:t>
            </a:r>
            <a:r>
              <a:rPr lang="en-US" altLang="ko-KR" sz="1200" dirty="0" err="1"/>
              <a:t>blt_type_cd</a:t>
            </a:r>
            <a:r>
              <a:rPr lang="ko-KR" altLang="en-US" sz="1200" dirty="0"/>
              <a:t> </a:t>
            </a:r>
            <a:r>
              <a:rPr lang="en-US" altLang="ko-KR" sz="1200" dirty="0"/>
              <a:t>=</a:t>
            </a:r>
            <a:r>
              <a:rPr lang="ko-KR" altLang="en-US" sz="1200" dirty="0"/>
              <a:t> </a:t>
            </a:r>
            <a:r>
              <a:rPr lang="en-US" altLang="ko-KR" sz="1200" dirty="0" err="1"/>
              <a:t>blv.typ_cd</a:t>
            </a:r>
            <a:endParaRPr lang="en-US" altLang="ko-KR" sz="1200" dirty="0"/>
          </a:p>
          <a:p>
            <a:pPr lvl="1"/>
            <a:r>
              <a:rPr lang="en-US" altLang="ko-KR" sz="1200" dirty="0"/>
              <a:t>    and </a:t>
            </a:r>
            <a:r>
              <a:rPr lang="en-US" altLang="ko-KR" sz="1200" dirty="0" err="1"/>
              <a:t>current_date</a:t>
            </a:r>
            <a:r>
              <a:rPr lang="en-US" altLang="ko-KR" sz="1200" dirty="0"/>
              <a:t>() between </a:t>
            </a:r>
            <a:r>
              <a:rPr lang="en-US" altLang="ko-KR" sz="1200" dirty="0" err="1"/>
              <a:t>blv.start_ymd</a:t>
            </a:r>
            <a:r>
              <a:rPr lang="en-US" altLang="ko-KR" sz="1200" dirty="0"/>
              <a:t> and </a:t>
            </a:r>
            <a:r>
              <a:rPr lang="en-US" altLang="ko-KR" sz="1200" dirty="0" err="1"/>
              <a:t>blv.end_ymd</a:t>
            </a:r>
            <a:endParaRPr lang="en-US" altLang="ko-KR" sz="1200" dirty="0"/>
          </a:p>
          <a:p>
            <a:pPr lvl="1"/>
            <a:r>
              <a:rPr lang="en-US" altLang="ko-KR" sz="1200" dirty="0"/>
              <a:t>  order by sort </a:t>
            </a:r>
          </a:p>
          <a:p>
            <a:r>
              <a:rPr lang="en-US" altLang="ko-KR" sz="1200" dirty="0"/>
              <a:t>    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2854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</TotalTime>
  <Words>1281</Words>
  <Application>Microsoft Office PowerPoint</Application>
  <PresentationFormat>와이드스크린</PresentationFormat>
  <Paragraphs>216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지용 최</dc:creator>
  <cp:lastModifiedBy>지용 최</cp:lastModifiedBy>
  <cp:revision>42</cp:revision>
  <dcterms:created xsi:type="dcterms:W3CDTF">2026-01-22T09:15:17Z</dcterms:created>
  <dcterms:modified xsi:type="dcterms:W3CDTF">2026-01-27T09:05:45Z</dcterms:modified>
</cp:coreProperties>
</file>